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3.1: Use Case Diagram for Lexguard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0" y="1371600"/>
            <a:ext cx="4023360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91B1B"/>
                </a:solidFill>
              </a:defRPr>
            </a:pPr>
            <a:r>
              <a:t>LexGuard High Court Platform Boundary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1645920" cy="914400"/>
          </a:xfrm>
          <a:prstGeom prst="ellipse">
            <a:avLst/>
          </a:prstGeom>
          <a:solidFill>
            <a:srgbClr val="E0E7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Court Staff</a:t>
            </a:r>
            <a:br/>
            <a:r>
              <a:t>(Junior Registry)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291840"/>
            <a:ext cx="1645920" cy="914400"/>
          </a:xfrm>
          <a:prstGeom prst="ellipse">
            <a:avLst/>
          </a:prstGeom>
          <a:solidFill>
            <a:srgbClr val="E0E7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Senior Registrar</a:t>
            </a:r>
            <a:br/>
            <a:r>
              <a:t>(Approval)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4754880"/>
            <a:ext cx="1645920" cy="914400"/>
          </a:xfrm>
          <a:prstGeom prst="ellipse">
            <a:avLst/>
          </a:prstGeom>
          <a:solidFill>
            <a:srgbClr val="E0E7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Advocate /</a:t>
            </a:r>
            <a:br/>
            <a:r>
              <a:t>Legal Practitioner</a:t>
            </a:r>
          </a:p>
        </p:txBody>
      </p:sp>
      <p:sp>
        <p:nvSpPr>
          <p:cNvPr id="7" name="Oval 6"/>
          <p:cNvSpPr/>
          <p:nvPr/>
        </p:nvSpPr>
        <p:spPr>
          <a:xfrm>
            <a:off x="2926080" y="182880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(Upload PDF Case Document)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246888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(Compute Streaming SHA-256)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310896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(Review Docket &amp; Approve / Reject)</a:t>
            </a:r>
          </a:p>
        </p:txBody>
      </p:sp>
      <p:sp>
        <p:nvSpPr>
          <p:cNvPr id="10" name="Oval 9"/>
          <p:cNvSpPr/>
          <p:nvPr/>
        </p:nvSpPr>
        <p:spPr>
          <a:xfrm>
            <a:off x="2926080" y="3749039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(Precedent Hybrid Search &amp; RRF)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438912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(AI Draft Studio Gap Analysis)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502920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(Multi-Precedent Comparator Matrix)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5669280"/>
            <a:ext cx="3291840" cy="502920"/>
          </a:xfrm>
          <a:prstGeom prst="ellipse">
            <a:avLst/>
          </a:prstGeom>
          <a:solidFill>
            <a:srgbClr val="FEF2F2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(Verify Tamper-Evident SHA-256)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2286000"/>
            <a:ext cx="1645920" cy="914400"/>
          </a:xfrm>
          <a:prstGeom prst="ellipse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Legal Scholar /</a:t>
            </a:r>
            <a:br/>
            <a:r>
              <a:t>Researcher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3840480"/>
            <a:ext cx="1645920" cy="914400"/>
          </a:xfrm>
          <a:prstGeom prst="ellipse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Citizen /</a:t>
            </a:r>
            <a:br/>
            <a:r>
              <a:t>Public Litigant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5303520"/>
            <a:ext cx="1645920" cy="914400"/>
          </a:xfrm>
          <a:prstGeom prst="ellipse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System Cryptographic</a:t>
            </a:r>
            <a:br/>
            <a:r>
              <a:t>Ledger (Automated)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3.2: Activity Diagram: Ingestion &amp; Integrity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6400800" cy="5486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[Start] Staff Selects Judgment 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194560"/>
            <a:ext cx="64008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Web Crypto API Computes Client SHA-256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6400800" cy="5486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&lt;Duplicate Check in PostgreSQL 17?&gt;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64008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PyMuPDF Extracts Text &amp; Legal NER 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64008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InLegalBERT Dense Embedding Engine (384-d)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20640"/>
            <a:ext cx="6400800" cy="5486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Senior Registrar Reviews Metadata &amp; Preview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852160"/>
            <a:ext cx="6400800" cy="5486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[Published] Hash-Chained Audit Ledger Logged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3.3: State Diagram: Judgment Document Status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737360" cy="1005840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INITIAL</a:t>
            </a:r>
            <a:br/>
            <a:r>
              <a:t>UPLOAD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2743200"/>
            <a:ext cx="1737360" cy="10058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5309"/>
                </a:solidFill>
              </a:defRPr>
            </a:pPr>
            <a:r>
              <a:t>PENDING_APPROVAL</a:t>
            </a:r>
            <a:br/>
            <a:r>
              <a:t>(CIS Review Queue)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743200"/>
            <a:ext cx="1737360" cy="10058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PUBLISHED</a:t>
            </a:r>
            <a:br/>
            <a:r>
              <a:t>(Searchable &amp; Live)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1737360" cy="100584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6534"/>
                </a:solidFill>
              </a:defRPr>
            </a:pPr>
            <a:r>
              <a:t>VERIFIED_ACTIVE</a:t>
            </a:r>
            <a:br/>
            <a:r>
              <a:t>(SHA-256 Match Badge)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840480"/>
            <a:ext cx="1737360" cy="10058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QUARANTINED_ALERT</a:t>
            </a:r>
            <a:br/>
            <a:r>
              <a:t>(Byte Tamper Mismatch)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754880"/>
            <a:ext cx="1737360" cy="10058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t>REJECTED</a:t>
            </a:r>
            <a:br/>
            <a:r>
              <a:t>(Archived / Dismissed)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3.4: Sequence Diagram: Search &amp; Real-Time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4864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User (Advocate)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1371600"/>
            <a:ext cx="1371600" cy="54864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Zero-Build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011680"/>
            <a:ext cx="9144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1371600" cy="54864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FastAPI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011680"/>
            <a:ext cx="9144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1371600" cy="54864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AI Microservice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011680"/>
            <a:ext cx="9144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1371600" cy="54864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PostgreSQL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011680"/>
            <a:ext cx="91440" cy="4389120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3200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1. Enter Query ('anticipatory bail') 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926080"/>
            <a:ext cx="3200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2. Forward Search Request 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566160"/>
            <a:ext cx="3200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3. Dense Embedding (InLegalBERT) 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206240"/>
            <a:ext cx="32004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&lt;- 4. Return 384-d Vector Payload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846320"/>
            <a:ext cx="42976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5. RRF Fusion (Cosine + Full-Text) 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5486400"/>
            <a:ext cx="3657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&lt;- 6. Stream Case Bytes &amp; Recompute SHA-256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3.5: Entity Relationship Diagram for LexGuard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377440" cy="201168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USERS</a:t>
            </a:r>
            <a:br/>
            <a:r>
              <a:t>PK: id</a:t>
            </a:r>
            <a:br/>
            <a:r>
              <a:t>email, password_hash</a:t>
            </a:r>
            <a:br/>
            <a:r>
              <a:t>role, credential_id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377440" cy="2011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CASES (208 Master Records)</a:t>
            </a:r>
            <a:br/>
            <a:r>
              <a:t>PK: id, cnr_number</a:t>
            </a:r>
            <a:br/>
            <a:r>
              <a:t>title, court, year, judge</a:t>
            </a:r>
            <a:br/>
            <a:r>
              <a:t>section_tags, act_tags, ratio</a:t>
            </a:r>
            <a:br/>
            <a:r>
              <a:t>file_path, file_hash (SHA-256)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377440" cy="2011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AUDIT_LOGS (989 Blocks)</a:t>
            </a:r>
            <a:br/>
            <a:r>
              <a:t>PK: id</a:t>
            </a:r>
            <a:br/>
            <a:r>
              <a:t>FK: user_id, case_id</a:t>
            </a:r>
            <a:br/>
            <a:r>
              <a:t>action, timestamp, ip_address</a:t>
            </a:r>
            <a:br/>
            <a:r>
              <a:t>previous_log_hash, current_hash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237744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APPROVAL_QUEUE</a:t>
            </a:r>
            <a:br/>
            <a:r>
              <a:t>PK: id</a:t>
            </a:r>
            <a:br/>
            <a:r>
              <a:t>FK: case_id</a:t>
            </a:r>
            <a:br/>
            <a:r>
              <a:t>submitted_by, reviewed_by</a:t>
            </a:r>
            <a:br/>
            <a:r>
              <a:t>status, review_note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206240"/>
            <a:ext cx="2377440" cy="20116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BOOKMARKS &amp; BINDERS</a:t>
            </a:r>
            <a:br/>
            <a:r>
              <a:t>PK: id</a:t>
            </a:r>
            <a:br/>
            <a:r>
              <a:t>FK: user_id, case_id</a:t>
            </a:r>
            <a:br/>
            <a:r>
              <a:t>folder_name,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237744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DRAFT_SESSIONS</a:t>
            </a:r>
            <a:br/>
            <a:r>
              <a:t>PK: id</a:t>
            </a:r>
            <a:br/>
            <a:r>
              <a:t>FK: user_id</a:t>
            </a:r>
            <a:br/>
            <a:r>
              <a:t>title, draft_text, citations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3.6: Data Flow Diagram: Level 0 Context &amp; Level 1 Detailed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1">
                <a:solidFill>
                  <a:srgbClr val="0F172A"/>
                </a:solidFill>
              </a:defRPr>
            </a:pPr>
            <a:r>
              <a:t>LEVEL 0: CONTEXT DIAGRAM</a:t>
            </a:r>
            <a:br/>
            <a:r>
              <a:t>[Court Staff] ---&gt; (Case PDF + Metadata) ---&gt; [ LEXGUARD PLATFORM ] ---&gt; (Verified Case Views) ---&gt; [Advocates]</a:t>
            </a:r>
            <a:br/>
            <a:r>
              <a:t>[Public User] ---&gt; (CNR Case Search)     ---&gt; [ SYSTEM BOUNDARY   ] ---&gt; (BNS Concordance)    ---&gt; [Advocates]</a:t>
            </a:r>
            <a:br/>
            <a:r>
              <a:t>[Court Staff] &lt;--- (Audit Trail Records) &lt;--- [ 989-Block Ledger ] &lt;--- (Draft Gap Check)     &lt;--- [Advocates]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7680960" cy="2560320"/>
          </a:xfrm>
          <a:prstGeom prst="rect">
            <a:avLst/>
          </a:prstGeom>
          <a:solidFill>
            <a:srgbClr val="F8FAFC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50" b="1">
                <a:solidFill>
                  <a:srgbClr val="0F172A"/>
                </a:solidFill>
              </a:defRPr>
            </a:pPr>
            <a:r>
              <a:t>LEVEL 1: FUNCTIONAL DECOMPOSITION</a:t>
            </a:r>
            <a:br/>
            <a:r>
              <a:t>1.0 Authentication: User Credentials --&gt; Users DB (BCrypt Cost 12) --&gt; JWT HttpOnly Cookie + Double CSRF</a:t>
            </a:r>
            <a:br/>
            <a:r>
              <a:t>2.0 Ingestion &amp; Hashing: Upload PDF --&gt; Web Crypto API &amp; SHA-256 --&gt; NER Extractor --&gt; Pending CIS Queue</a:t>
            </a:r>
            <a:br/>
            <a:r>
              <a:t>3.0 CIS Workstation: Review Docket --&gt; Senior Registrar Approval --&gt; Update 'Published' --&gt; Audit Ledger</a:t>
            </a:r>
            <a:br/>
            <a:r>
              <a:t>4.0 Precedent Discovery: Legal Query --&gt; InLegalBERT Vectors + Full-Text tsvector --&gt; Reciprocal Rank Fusion</a:t>
            </a:r>
            <a:br/>
            <a:r>
              <a:t>5.0 Integrity Viewer: Case View Request --&gt; Real-Time Byte Re-Hash --&gt; Compare Stored Hash --&gt; Serve Badge</a:t>
            </a:r>
            <a:br/>
            <a:r>
              <a:t>6.0 AI Draft Studio: Draft Paragraphs --&gt; Extract Sections --&gt; Concordance Mapper --&gt; Return Missing Grounds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991B1B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Figure 3.7: System Architecture: Decoupled Zero-Build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680960" cy="9144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PRESENTATION TIER (Zero-Build Pure HTML5 + Bootstrap 5 + jQuery + PDF.js + Chart.js)</a:t>
            </a:r>
            <a:br/>
            <a:r>
              <a:t>High Court Crimson &amp; White Theme | Native Browser Web Crypto API SHA-256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7680960" cy="914400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SECURITY &amp; APPLICATION GATEWAY TIER (FastAPI ASGI Server :8000)</a:t>
            </a:r>
            <a:br/>
            <a:r>
              <a:t>OWASP SecurityHeadersMiddleware | Double-Submit CSRF | HttpOnly Session Cookies | Role-Based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7680960" cy="91440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DOMAIN AI &amp; LEGAL INTELLIGENCE MICROSERVICE TIER (:8001)</a:t>
            </a:r>
            <a:br/>
            <a:r>
              <a:t>InLegalBERT Embedding Pipeline (384-d) | Reciprocal Rank Fusion | BNS / BNSS 2023 Concordance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7680960" cy="914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ENTERPRISE PERSISTENCE &amp; REPOSITORY TIER (PostgreSQL 17)</a:t>
            </a:r>
            <a:br/>
            <a:r>
              <a:t>208 Precedent Records | 989 Immutable Hash-Chained Audit Ledger Blocks | File Storage | Relational Indexes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